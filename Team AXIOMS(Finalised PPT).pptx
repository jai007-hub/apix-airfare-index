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1pPr>
    <a:lvl2pPr indent="2286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2pPr>
    <a:lvl3pPr indent="4572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3pPr>
    <a:lvl4pPr indent="6858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4pPr>
    <a:lvl5pPr indent="9144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914400" y="2130426"/>
            <a:ext cx="10363200" cy="1470027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963084" y="4406903"/>
            <a:ext cx="10363201" cy="1362077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963084" y="2906713"/>
            <a:ext cx="103632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93368" y="1535112"/>
            <a:ext cx="5389035" cy="63976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609601" y="273050"/>
            <a:ext cx="401108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609601" y="1435103"/>
            <a:ext cx="401108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2389715" y="4800600"/>
            <a:ext cx="73152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2389715" y="612775"/>
            <a:ext cx="73152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2389715" y="5367337"/>
            <a:ext cx="73152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308747" y="6404296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apple.com" TargetMode="External"/><Relationship Id="rId3" Type="http://schemas.openxmlformats.org/officeDocument/2006/relationships/hyperlink" Target="http://mospi.gov.in" TargetMode="External"/><Relationship Id="rId4" Type="http://schemas.openxmlformats.org/officeDocument/2006/relationships/hyperlink" Target="https://www.dgca.gov.in/digigov-portal/" TargetMode="External"/><Relationship Id="rId5" Type="http://schemas.openxmlformats.org/officeDocument/2006/relationships/hyperlink" Target="https://rbi.org.in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4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Freeform: Shape 26"/>
          <p:cNvSpPr/>
          <p:nvPr/>
        </p:nvSpPr>
        <p:spPr>
          <a:xfrm>
            <a:off x="5656780" y="851520"/>
            <a:ext cx="4638605" cy="5154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fill="norm" stroke="1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0" t="0" r="59916" b="0"/>
          <a:stretch>
            <a:fillRect/>
          </a:stretch>
        </p:blipFill>
        <p:spPr>
          <a:xfrm>
            <a:off x="6854890" y="1715879"/>
            <a:ext cx="3203510" cy="342624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Subtitle 3"/>
          <p:cNvSpPr txBox="1"/>
          <p:nvPr>
            <p:ph type="subTitle" sz="quarter" idx="1"/>
          </p:nvPr>
        </p:nvSpPr>
        <p:spPr>
          <a:xfrm>
            <a:off x="1914186" y="494933"/>
            <a:ext cx="6883635" cy="1752601"/>
          </a:xfrm>
          <a:prstGeom prst="rect">
            <a:avLst/>
          </a:prstGeom>
        </p:spPr>
        <p:txBody>
          <a:bodyPr/>
          <a:lstStyle/>
          <a:p>
            <a:pPr>
              <a:defRPr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l" defTabSz="12700">
              <a:lnSpc>
                <a:spcPct val="115832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      </a:t>
            </a:r>
          </a:p>
          <a:p>
            <a:pPr algn="l" defTabSz="12700">
              <a:lnSpc>
                <a:spcPct val="115832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           Real-Time Airfare Price Index (APIx)</a:t>
            </a:r>
          </a:p>
        </p:txBody>
      </p:sp>
      <p:sp>
        <p:nvSpPr>
          <p:cNvPr id="98" name="Title 7"/>
          <p:cNvSpPr txBox="1"/>
          <p:nvPr>
            <p:ph type="ctrTitle"/>
          </p:nvPr>
        </p:nvSpPr>
        <p:spPr>
          <a:xfrm>
            <a:off x="356899" y="-505557"/>
            <a:ext cx="10363201" cy="2076451"/>
          </a:xfrm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SMART INDIA HACKATHON 2026</a:t>
            </a:r>
          </a:p>
        </p:txBody>
      </p:sp>
      <p:sp>
        <p:nvSpPr>
          <p:cNvPr id="99" name="TextBox 9"/>
          <p:cNvSpPr txBox="1"/>
          <p:nvPr/>
        </p:nvSpPr>
        <p:spPr>
          <a:xfrm>
            <a:off x="377006" y="2076450"/>
            <a:ext cx="5833112" cy="288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</a:p>
          <a:p>
            <a:pPr marL="285750" indent="-285750" algn="just">
              <a:lnSpc>
                <a:spcPct val="120000"/>
              </a:lnSpc>
              <a:buSzPct val="100000"/>
              <a:buFont typeface="Arial"/>
              <a:buChar char="•"/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Problem Statement ID – SIH26056</a:t>
            </a:r>
          </a:p>
          <a:p>
            <a:pPr marL="285750" indent="-285750" algn="just">
              <a:lnSpc>
                <a:spcPct val="120000"/>
              </a:lnSpc>
              <a:buSzPct val="100000"/>
              <a:buFont typeface="Arial"/>
              <a:buChar char="•"/>
              <a:defRPr b="1" sz="1600">
                <a:latin typeface="Arial"/>
                <a:ea typeface="Arial"/>
                <a:cs typeface="Arial"/>
                <a:sym typeface="Arial"/>
              </a:defRPr>
            </a:pPr>
            <a:r>
              <a:t>Problem Statement Title- Real-Time Airfare Price Index (APIx) for India via Automated Web Scraping, for Augmentation of the CPI</a:t>
            </a:r>
          </a:p>
          <a:p>
            <a:pPr marL="285750" indent="-285750" algn="just">
              <a:lnSpc>
                <a:spcPct val="120000"/>
              </a:lnSpc>
              <a:buSzPct val="100000"/>
              <a:buFont typeface="Arial"/>
              <a:buChar char="•"/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Theme- Travel &amp; Tourism</a:t>
            </a:r>
          </a:p>
          <a:p>
            <a:pPr marL="285750" indent="-285750" algn="just">
              <a:lnSpc>
                <a:spcPct val="120000"/>
              </a:lnSpc>
              <a:buSzPct val="100000"/>
              <a:buFont typeface="Arial"/>
              <a:buChar char="•"/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PS Category- Software</a:t>
            </a:r>
          </a:p>
          <a:p>
            <a:pPr marL="285750" indent="-285750" algn="just">
              <a:lnSpc>
                <a:spcPct val="120000"/>
              </a:lnSpc>
              <a:buSzPct val="100000"/>
              <a:buFont typeface="Arial"/>
              <a:buChar char="•"/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Team ID- SIH-UPES-2026-T061</a:t>
            </a:r>
          </a:p>
          <a:p>
            <a:pPr marL="285750" indent="-285750" algn="just">
              <a:lnSpc>
                <a:spcPct val="120000"/>
              </a:lnSpc>
              <a:buSzPct val="100000"/>
              <a:buFont typeface="Arial"/>
              <a:buChar char="•"/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Team Name:AXIOMS</a:t>
            </a:r>
          </a:p>
        </p:txBody>
      </p:sp>
      <p:pic>
        <p:nvPicPr>
          <p:cNvPr id="100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03" name="Rectangle 8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04" name="Title 1"/>
          <p:cNvSpPr txBox="1"/>
          <p:nvPr>
            <p:ph type="title"/>
          </p:nvPr>
        </p:nvSpPr>
        <p:spPr>
          <a:xfrm>
            <a:off x="182997" y="0"/>
            <a:ext cx="10972801" cy="1143000"/>
          </a:xfrm>
          <a:prstGeom prst="rect">
            <a:avLst/>
          </a:prstGeom>
        </p:spPr>
        <p:txBody>
          <a:bodyPr/>
          <a:lstStyle>
            <a:lvl1pPr algn="l" defTabSz="12700">
              <a:lnSpc>
                <a:spcPct val="115832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                                          Real-Time Airfare Price Index (APIx)</a:t>
            </a:r>
          </a:p>
        </p:txBody>
      </p:sp>
      <p:sp>
        <p:nvSpPr>
          <p:cNvPr id="105" name="TextBox 8"/>
          <p:cNvSpPr txBox="1"/>
          <p:nvPr/>
        </p:nvSpPr>
        <p:spPr>
          <a:xfrm>
            <a:off x="276238" y="1272959"/>
            <a:ext cx="6435189" cy="3805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buSzPct val="100000"/>
              <a:buFont typeface="Arial"/>
              <a:buChar char="❖"/>
              <a:defRPr b="1" sz="3200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Proposed Solution </a:t>
            </a:r>
          </a:p>
          <a:p>
            <a:pPr marL="342900" indent="-342900">
              <a:buSzPct val="100000"/>
              <a:buFont typeface="Arial"/>
              <a:buChar char="•"/>
              <a:defRPr sz="2000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>
              <a:buSzPct val="100000"/>
              <a:buFont typeface="Arial"/>
              <a:buChar char="•"/>
              <a:defRPr sz="2000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algn="just">
              <a:buSzPct val="100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  <a:r>
              <a:t>Automated pipeline: scrape airline &amp; OTA fares → clean → compute CPI-style weighted Airfare Price Index — live via API &amp; dashboard.</a:t>
            </a:r>
          </a:p>
          <a:p>
            <a:pPr marL="342900" indent="-342900" algn="just">
              <a:buSzPct val="100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algn="just">
              <a:buSzPct val="100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  <a:r>
              <a:t>Replaces sparse manual CPI sampling with continuous capture of real 200–400% daily fare swings.</a:t>
            </a:r>
          </a:p>
          <a:p>
            <a:pPr marL="342900" indent="-342900" algn="just">
              <a:buSzPct val="100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algn="just">
              <a:buSzPct val="100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  <a:r>
              <a:t>DGCA-weighted route basket + 5-window booking elasticity — working multi-source prototype, not just a concept.</a:t>
            </a:r>
          </a:p>
        </p:txBody>
      </p:sp>
      <p:sp>
        <p:nvSpPr>
          <p:cNvPr id="106" name="Slide Number Placeholder 5"/>
          <p:cNvSpPr txBox="1"/>
          <p:nvPr>
            <p:ph type="sldNum" sz="quarter" idx="4294967295"/>
          </p:nvPr>
        </p:nvSpPr>
        <p:spPr>
          <a:xfrm>
            <a:off x="11393501" y="6404295"/>
            <a:ext cx="188897" cy="2692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09" name="Oval 9"/>
          <p:cNvGrpSpPr/>
          <p:nvPr/>
        </p:nvGrpSpPr>
        <p:grpSpPr>
          <a:xfrm>
            <a:off x="329771" y="230008"/>
            <a:ext cx="1432505" cy="851809"/>
            <a:chOff x="0" y="-1"/>
            <a:chExt cx="1432504" cy="851807"/>
          </a:xfrm>
        </p:grpSpPr>
        <p:sp>
          <p:nvSpPr>
            <p:cNvPr id="107" name="Oval"/>
            <p:cNvSpPr/>
            <p:nvPr/>
          </p:nvSpPr>
          <p:spPr>
            <a:xfrm>
              <a:off x="-1" y="-2"/>
              <a:ext cx="1432505" cy="851809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08" name="AXIOMS"/>
            <p:cNvSpPr txBox="1"/>
            <p:nvPr/>
          </p:nvSpPr>
          <p:spPr>
            <a:xfrm>
              <a:off x="271422" y="259360"/>
              <a:ext cx="889658" cy="3330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pPr/>
              <a:r>
                <a:t>AXIOMS</a:t>
              </a:r>
            </a:p>
          </p:txBody>
        </p:sp>
      </p:grpSp>
      <p:pic>
        <p:nvPicPr>
          <p:cNvPr id="110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Solution Glance Diagram" descr="Solution Glance Diagra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39836" y="5159919"/>
            <a:ext cx="7606685" cy="11129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Screenshot 2026-08-24 at 12.05.21 PM.png" descr="Screenshot 2026-08-24 at 12.05.21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284770" y="2135665"/>
            <a:ext cx="4703907" cy="25866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15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1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TECHNICAL APPROACH</a:t>
            </a:r>
          </a:p>
        </p:txBody>
      </p:sp>
      <p:sp>
        <p:nvSpPr>
          <p:cNvPr id="117" name="TextBox 8"/>
          <p:cNvSpPr txBox="1"/>
          <p:nvPr/>
        </p:nvSpPr>
        <p:spPr>
          <a:xfrm>
            <a:off x="571103" y="1490007"/>
            <a:ext cx="4755651" cy="4172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 algn="just"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Python (Scrapy + Playwright) scraping · FastAPI backend · PostgreSQL/SQLite · React + Vite + Recharts dashboard · APScheduler automation.</a:t>
            </a: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Pipeline: Scrape → Clean &amp; Normalize → Compute Weighted Index → Serve via API → Visualize on Dashboard — already working end-to-end.</a:t>
            </a: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Automated pytest suite for cleaning &amp; index logic; documented, reproducible pipeline from raw data to dashboard.</a:t>
            </a:r>
          </a:p>
        </p:txBody>
      </p:sp>
      <p:sp>
        <p:nvSpPr>
          <p:cNvPr id="118" name="Slide Number Placeholder 5"/>
          <p:cNvSpPr txBox="1"/>
          <p:nvPr>
            <p:ph type="sldNum" sz="quarter" idx="4294967295"/>
          </p:nvPr>
        </p:nvSpPr>
        <p:spPr>
          <a:xfrm>
            <a:off x="11393501" y="6404295"/>
            <a:ext cx="188897" cy="2692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21" name="Oval 10"/>
          <p:cNvGrpSpPr/>
          <p:nvPr/>
        </p:nvGrpSpPr>
        <p:grpSpPr>
          <a:xfrm>
            <a:off x="329771" y="300341"/>
            <a:ext cx="1262736" cy="711144"/>
            <a:chOff x="0" y="0"/>
            <a:chExt cx="1262734" cy="711142"/>
          </a:xfrm>
        </p:grpSpPr>
        <p:sp>
          <p:nvSpPr>
            <p:cNvPr id="119" name="Oval"/>
            <p:cNvSpPr/>
            <p:nvPr/>
          </p:nvSpPr>
          <p:spPr>
            <a:xfrm>
              <a:off x="0" y="-1"/>
              <a:ext cx="1262735" cy="71114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20" name="AXIOMS"/>
            <p:cNvSpPr txBox="1"/>
            <p:nvPr/>
          </p:nvSpPr>
          <p:spPr>
            <a:xfrm>
              <a:off x="247639" y="208872"/>
              <a:ext cx="893529" cy="293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>
              <a:lvl1pPr algn="ctr"/>
            </a:lstStyle>
            <a:p>
              <a:pPr/>
              <a:r>
                <a:t>AXIOMS</a:t>
              </a:r>
            </a:p>
          </p:txBody>
        </p:sp>
      </p:grpSp>
      <p:pic>
        <p:nvPicPr>
          <p:cNvPr id="122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Pipeline Diagram" descr="Pipeline Diagra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56655" y="5032050"/>
            <a:ext cx="6386343" cy="128553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WhatsApp Image 2026-08-24 at 12.02.01.jpeg" descr="WhatsApp Image 2026-08-24 at 12.02.01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54316" y="1650539"/>
            <a:ext cx="6591021" cy="3126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27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2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FEASIBILITY AND VIABILITY</a:t>
            </a:r>
          </a:p>
        </p:txBody>
      </p:sp>
      <p:sp>
        <p:nvSpPr>
          <p:cNvPr id="129" name="TextBox 8"/>
          <p:cNvSpPr txBox="1"/>
          <p:nvPr/>
        </p:nvSpPr>
        <p:spPr>
          <a:xfrm>
            <a:off x="854824" y="1685755"/>
            <a:ext cx="5212920" cy="355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 algn="just">
              <a:buSzPct val="100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  <a:r>
              <a:t>Technically feasible: public data, mature scraping tools, CPI-style index math — proven via 6-month(181Days)working-prototype backtest.</a:t>
            </a:r>
          </a:p>
          <a:p>
            <a:pPr marL="342900" indent="-342900" algn="just">
              <a:buSzPct val="100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algn="just">
              <a:buSzPct val="100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  <a:r>
              <a:t>Key risks: anti-bot/CAPTCHA on OTAs · national-pricing representativeness · continuous scheduling reliability.</a:t>
            </a:r>
          </a:p>
          <a:p>
            <a:pPr marL="342900" indent="-342900" algn="just">
              <a:buSzPct val="100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algn="just">
              <a:buSzPct val="100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  <a:r>
              <a:t>Strategies: ethical rate-limited scraping (airlines first) · modular multi-source architecture · continuous DGCA/CPI backtesting</a:t>
            </a:r>
          </a:p>
        </p:txBody>
      </p:sp>
      <p:sp>
        <p:nvSpPr>
          <p:cNvPr id="130" name="Slide Number Placeholder 5"/>
          <p:cNvSpPr txBox="1"/>
          <p:nvPr>
            <p:ph type="sldNum" sz="quarter" idx="4294967295"/>
          </p:nvPr>
        </p:nvSpPr>
        <p:spPr>
          <a:xfrm>
            <a:off x="11393501" y="6404295"/>
            <a:ext cx="188897" cy="2692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33" name="Oval 11"/>
          <p:cNvGrpSpPr/>
          <p:nvPr/>
        </p:nvGrpSpPr>
        <p:grpSpPr>
          <a:xfrm>
            <a:off x="329771" y="252245"/>
            <a:ext cx="1390966" cy="807337"/>
            <a:chOff x="0" y="0"/>
            <a:chExt cx="1390964" cy="807335"/>
          </a:xfrm>
        </p:grpSpPr>
        <p:sp>
          <p:nvSpPr>
            <p:cNvPr id="131" name="Oval"/>
            <p:cNvSpPr/>
            <p:nvPr/>
          </p:nvSpPr>
          <p:spPr>
            <a:xfrm>
              <a:off x="0" y="0"/>
              <a:ext cx="1390965" cy="80733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32" name="AXIOMS"/>
            <p:cNvSpPr txBox="1"/>
            <p:nvPr/>
          </p:nvSpPr>
          <p:spPr>
            <a:xfrm>
              <a:off x="262122" y="237125"/>
              <a:ext cx="866720" cy="3330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pPr/>
              <a:r>
                <a:t>AXIOMS</a:t>
              </a:r>
            </a:p>
          </p:txBody>
        </p:sp>
      </p:grpSp>
      <p:pic>
        <p:nvPicPr>
          <p:cNvPr id="134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Risk Mitigation Diagram" descr="Risk Mitigation Diagra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98337" y="2857499"/>
            <a:ext cx="5827378" cy="1143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38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3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IMPACT AND BENEFITS</a:t>
            </a:r>
          </a:p>
        </p:txBody>
      </p:sp>
      <p:sp>
        <p:nvSpPr>
          <p:cNvPr id="140" name="TextBox 8"/>
          <p:cNvSpPr txBox="1"/>
          <p:nvPr/>
        </p:nvSpPr>
        <p:spPr>
          <a:xfrm>
            <a:off x="2342507" y="1552751"/>
            <a:ext cx="7815385" cy="2712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 algn="just"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High-frequency airfare data → improved airfare measurement → stronger CPI analysis → better evidence for economic decision-making</a:t>
            </a: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Economic: sharper inflation measurement · Governance: automates manual.</a:t>
            </a: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NSO process · Social: transparent pricing + bonus Future Extension insight.</a:t>
            </a:r>
          </a:p>
        </p:txBody>
      </p:sp>
      <p:sp>
        <p:nvSpPr>
          <p:cNvPr id="141" name="Slide Number Placeholder 5"/>
          <p:cNvSpPr txBox="1"/>
          <p:nvPr>
            <p:ph type="sldNum" sz="quarter" idx="4294967295"/>
          </p:nvPr>
        </p:nvSpPr>
        <p:spPr>
          <a:xfrm>
            <a:off x="11393501" y="6404295"/>
            <a:ext cx="188897" cy="2692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44" name="Oval 11"/>
          <p:cNvGrpSpPr/>
          <p:nvPr/>
        </p:nvGrpSpPr>
        <p:grpSpPr>
          <a:xfrm>
            <a:off x="329771" y="252245"/>
            <a:ext cx="1515658" cy="807337"/>
            <a:chOff x="0" y="0"/>
            <a:chExt cx="1515656" cy="807335"/>
          </a:xfrm>
        </p:grpSpPr>
        <p:sp>
          <p:nvSpPr>
            <p:cNvPr id="142" name="Oval"/>
            <p:cNvSpPr/>
            <p:nvPr/>
          </p:nvSpPr>
          <p:spPr>
            <a:xfrm>
              <a:off x="0" y="0"/>
              <a:ext cx="1515657" cy="80733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43" name="AXIOMS"/>
            <p:cNvSpPr txBox="1"/>
            <p:nvPr/>
          </p:nvSpPr>
          <p:spPr>
            <a:xfrm>
              <a:off x="280382" y="237125"/>
              <a:ext cx="954891" cy="3330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pPr/>
              <a:r>
                <a:t>AXIOMS</a:t>
              </a:r>
            </a:p>
          </p:txBody>
        </p:sp>
      </p:grpSp>
      <p:pic>
        <p:nvPicPr>
          <p:cNvPr id="14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Impact Flow Diagram" descr="Impact Flow Diagra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43760" y="4540663"/>
            <a:ext cx="9304481" cy="1587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49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5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RESEARCH  AND REFERENCES</a:t>
            </a:r>
          </a:p>
        </p:txBody>
      </p:sp>
      <p:sp>
        <p:nvSpPr>
          <p:cNvPr id="151" name="TextBox 8">
            <a:hlinkClick r:id="rId2" invalidUrl="" action="" tgtFrame="" tooltip="" history="1" highlightClick="0" endSnd="0"/>
          </p:cNvPr>
          <p:cNvSpPr txBox="1"/>
          <p:nvPr/>
        </p:nvSpPr>
        <p:spPr>
          <a:xfrm>
            <a:off x="655319" y="1577142"/>
            <a:ext cx="4741858" cy="4020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 algn="just">
              <a:spcBef>
                <a:spcPts val="400"/>
              </a:spcBef>
              <a:buSzPct val="100000"/>
              <a:buFont typeface="Arial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Government &amp; Data Sources: </a:t>
            </a:r>
            <a:r>
              <a:rPr b="0"/>
              <a:t>MoSPI CPI Manual, 2024-base series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mospi.gov.in</a:t>
            </a:r>
            <a:r>
              <a:rPr b="0"/>
              <a:t> DGCA monthly domestic passenger traffic statistics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dgca.gov.in</a:t>
            </a:r>
            <a:r>
              <a:rPr b="0"/>
              <a:t> .</a:t>
            </a:r>
          </a:p>
          <a:p>
            <a:pPr marL="342900" indent="-342900" algn="just">
              <a:spcBef>
                <a:spcPts val="400"/>
              </a:spcBef>
              <a:buSzPct val="100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algn="just">
              <a:spcBef>
                <a:spcPts val="400"/>
              </a:spcBef>
              <a:buSzPct val="100000"/>
              <a:buFont typeface="Arial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Methodology References: </a:t>
            </a:r>
            <a:r>
              <a:rPr b="0"/>
              <a:t>Laspeyres price-index construction (standard CPI methodology); RBI’s flexible inflation-targeting framework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 invalidUrl="" action="" tgtFrame="" tooltip="" history="1" highlightClick="0" endSnd="0"/>
              </a:rPr>
              <a:t>rbi.org.in</a:t>
            </a:r>
          </a:p>
          <a:p>
            <a:pPr marL="342900" indent="-342900" algn="just">
              <a:spcBef>
                <a:spcPts val="400"/>
              </a:spcBef>
              <a:buSzPct val="100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algn="just">
              <a:spcBef>
                <a:spcPts val="400"/>
              </a:spcBef>
              <a:buSzPct val="100000"/>
              <a:buFont typeface="Arial"/>
              <a:buChar char="•"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Prototype Validation: </a:t>
            </a:r>
            <a:r>
              <a:rPr b="0"/>
              <a:t>6-month (181-day) backtest of our computed index against MoSPI’s CPI airfare series across 10 routes.</a:t>
            </a:r>
          </a:p>
        </p:txBody>
      </p:sp>
      <p:sp>
        <p:nvSpPr>
          <p:cNvPr id="152" name="Slide Number Placeholder 5"/>
          <p:cNvSpPr txBox="1"/>
          <p:nvPr>
            <p:ph type="sldNum" sz="quarter" idx="4294967295"/>
          </p:nvPr>
        </p:nvSpPr>
        <p:spPr>
          <a:xfrm>
            <a:off x="11393501" y="6404295"/>
            <a:ext cx="188897" cy="2692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55" name="Oval 8"/>
          <p:cNvGrpSpPr/>
          <p:nvPr/>
        </p:nvGrpSpPr>
        <p:grpSpPr>
          <a:xfrm>
            <a:off x="329772" y="252245"/>
            <a:ext cx="1415902" cy="807337"/>
            <a:chOff x="0" y="0"/>
            <a:chExt cx="1415901" cy="807335"/>
          </a:xfrm>
        </p:grpSpPr>
        <p:sp>
          <p:nvSpPr>
            <p:cNvPr id="153" name="Oval"/>
            <p:cNvSpPr/>
            <p:nvPr/>
          </p:nvSpPr>
          <p:spPr>
            <a:xfrm>
              <a:off x="0" y="0"/>
              <a:ext cx="1415902" cy="80733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54" name="AXIOMS"/>
            <p:cNvSpPr txBox="1"/>
            <p:nvPr/>
          </p:nvSpPr>
          <p:spPr>
            <a:xfrm>
              <a:off x="265774" y="237125"/>
              <a:ext cx="884354" cy="3330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pPr/>
              <a:r>
                <a:t>AXIOMS</a:t>
              </a:r>
            </a:p>
          </p:txBody>
        </p:sp>
      </p:grpSp>
      <p:pic>
        <p:nvPicPr>
          <p:cNvPr id="156" name="Picture 11" descr="Picture 11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Stats Row Diagram" descr="Stats Row Diagram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376216" y="4122213"/>
            <a:ext cx="7015731" cy="824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Screenshot 2026-08-24 at 12.27.17 PM.png" descr="Screenshot 2026-08-24 at 12.27.17 PM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068421" y="1987386"/>
            <a:ext cx="5995513" cy="18590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